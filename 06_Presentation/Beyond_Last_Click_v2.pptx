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SPICED ACADEMY BERLIN  ·  DATA ANALYTICS BOOTCAMP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BEYOND LAST-CLICK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ECDC4"/>
                </a:solidFill>
              </a:rPr>
              <a:t>A Multi-Channel Performance Analysis in E-Commerce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3200400" cy="36576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Soheila Zamani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Data Analytics Bootcamp  ·  SPICED Academy Berlin  ·  April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3291840"/>
            <a:ext cx="82296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3337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E12"/>
                </a:solidFill>
              </a:rPr>
              <a:t>5.0×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931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Nano Advantage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60920" y="3291840"/>
            <a:ext cx="82296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337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E12"/>
                </a:solidFill>
              </a:rPr>
              <a:t>+43%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60920" y="3931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Paid vs Organic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21040" y="3291840"/>
            <a:ext cx="82296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337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E12"/>
                </a:solidFill>
              </a:rPr>
              <a:t>6/6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21040" y="3931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Confirmed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E-Commerce Brands Are Flying Blind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697480" cy="73152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2A4A"/>
                </a:solidFill>
              </a:rPr>
              <a:t>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Last-Click Attribution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100% of credit goes to the LAST channel a customer touched — ignoring every earlier touchpoint that built awareness and trust.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2697480" cy="73152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5087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2A4A"/>
                </a:solidFill>
              </a:rPr>
              <a:t>❷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Influencer Gets No Credit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nano influencer's video convinces the user — but the paid ad they click 3 days later gets all the glory.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3716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371600"/>
            <a:ext cx="2697480" cy="73152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5087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2A4A"/>
                </a:solidFill>
              </a:rPr>
              <a:t>❸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Budget Goes to Wrong Places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Brands overspend on mega influencers and undifferentiated ads — without knowing which tier or timing actually converts.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Beyond Last-Click  ·  Soheila Zamani  ·  SPICED Academy Berlin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THE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Two Real Datasets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393192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Dataset 1 — YouTube Influencer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Built via YouTube Data API v3 — keyword search by niche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4,527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377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Active Creator Channels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807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Content Niches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912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82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2369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Countries Covered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210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666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Influencer Tiers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507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≤365 days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0965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Last Upload Filter Applied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13258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325880"/>
            <a:ext cx="3931920" cy="73152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Dataset 2 — A/B Testing (Facebook Ads)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Real Facebook experiment — Kaggle (FavioVázquez)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AE12"/>
                </a:solidFill>
              </a:rPr>
              <a:t>588,101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Rows of User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8437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AE12"/>
                </a:solidFill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46520" y="28895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Groups: Paid Ad vs Organic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355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AE12"/>
                </a:solidFill>
              </a:rPr>
              <a:t>~2%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46520" y="34015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Realistic Conversion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867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AE12"/>
                </a:solidFill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46520" y="3913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Conversion Metrics Tracked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⚠  Dataset collected via keyword search. Filters applied: ≥100 subscribers · ≥5 videos · last upload ≤365 days. Final dataset: 4,527 active creator channels.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Beyond Last-Click  ·  Soheila Zamani  ·  SPICED Academy Berlin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RESEARCH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 Hypotheses — All Confirmed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42062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502920" cy="96012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H1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Nano influencers have higher engagement per subscriber than mega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Kruskal-Wallis  ·  p = 9.21e-263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532888"/>
            <a:ext cx="42062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32888"/>
            <a:ext cx="502920" cy="96012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8072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H2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6243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Engagement varies significantly across content niches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081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Kruskal-Wallis  ·  Confirmed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648456"/>
            <a:ext cx="42062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648456"/>
            <a:ext cx="502920" cy="96012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9227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H3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73989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Smaller channels produce more views per subscriber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1970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Pearson + Regression  ·  r = -0.52, R² = 0.27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42062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417320"/>
            <a:ext cx="502920" cy="96012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H4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Paid ads convert at a higher rate than organic content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A/B Test  ·  +43% lift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532888"/>
            <a:ext cx="42062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532888"/>
            <a:ext cx="502920" cy="96012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8072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H5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6243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Geographic origin affects influencer engagement rates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3081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Median by Country  ·  Brazil, Nigeria, Spain lead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648456"/>
            <a:ext cx="42062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648456"/>
            <a:ext cx="502920" cy="96012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9227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H6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73989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Conversion rate varies by time of day and day of week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41970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Conversion by Hour/Day  ·  Sat 5–7am · Mon–Tue 14–16:00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77AA"/>
                </a:solidFill>
              </a:rPr>
              <a:t>Beyond Last-Click  ·  Soheila Zamani  ·  SPICED Academy Berlin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H1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Nano Influencers Deliver 5.0× More Engagement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97280" cy="292608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E12"/>
                </a:solidFill>
              </a:rPr>
              <a:t>1.62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nano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3087511"/>
            <a:ext cx="1097280" cy="1210169"/>
          </a:xfrm>
          <a:prstGeom prst="rect">
            <a:avLst/>
          </a:prstGeom>
          <a:solidFill>
            <a:srgbClr val="4ECD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76747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</a:rPr>
              <a:t>0.67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4343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micro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502942"/>
            <a:ext cx="1097280" cy="794738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18290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4B9FF"/>
                </a:solidFill>
              </a:rPr>
              <a:t>0.44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4343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macro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3701627"/>
            <a:ext cx="1097280" cy="596053"/>
          </a:xfrm>
          <a:prstGeom prst="rect">
            <a:avLst/>
          </a:prstGeom>
          <a:solidFill>
            <a:srgbClr val="8B9D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338158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DC3"/>
                </a:solidFill>
              </a:rPr>
              <a:t>0.33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4343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mega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6400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16200000">
            <a:off x="45720" y="2286000"/>
            <a:ext cx="548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Median Views per Subscriber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1280160"/>
            <a:ext cx="1965960" cy="338328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4630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CAE12"/>
                </a:solidFill>
              </a:rPr>
              <a:t>5.0×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858000" y="2468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Nano vs Mega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engagement ratio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3200400"/>
            <a:ext cx="1691640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3337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Kruskal-Wallis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p = 9.21e-263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Statistically significant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at all conventional levels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ECDC4"/>
                </a:solidFill>
              </a:rPr>
              <a:t>API enrichment: macro creators lead on engagement rate (0.035) — nano leads on reach (VPS). Two metrics, two strategies.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Beyond Last-Click  ·  Soheila Zamani  ·  SPICED Academy Berlin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H2 + H3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Niche and Channel Size Both Shape Engagement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1148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H2 — Top Niches by Engagement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Fashion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911096"/>
            <a:ext cx="237744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1.09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682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Lifestyle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2404872"/>
            <a:ext cx="1723099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1899" y="23682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</a:rPr>
              <a:t>0.79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862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Beauty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83080" y="2898648"/>
            <a:ext cx="1614042" cy="256032"/>
          </a:xfrm>
          <a:prstGeom prst="rect">
            <a:avLst/>
          </a:prstGeom>
          <a:solidFill>
            <a:srgbClr val="E9C4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2842" y="2862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0.74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3558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Travel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3392424"/>
            <a:ext cx="1592230" cy="256032"/>
          </a:xfrm>
          <a:prstGeom prst="rect">
            <a:avLst/>
          </a:prstGeom>
          <a:solidFill>
            <a:srgbClr val="A8DA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1030" y="3355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DADC"/>
                </a:solidFill>
              </a:rPr>
              <a:t>0.73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8496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Film &amp; Streaming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83080" y="3886200"/>
            <a:ext cx="1330494" cy="256032"/>
          </a:xfrm>
          <a:prstGeom prst="rect">
            <a:avLst/>
          </a:prstGeom>
          <a:solidFill>
            <a:srgbClr val="6A4C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9294" y="38496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4C93"/>
                </a:solidFill>
              </a:rPr>
              <a:t>0.61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2801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280160"/>
            <a:ext cx="4114800" cy="64008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H3 — Size vs Engagement (Regression)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920240"/>
            <a:ext cx="37490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Pearson 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E12"/>
                </a:solidFill>
              </a:rPr>
              <a:t>−0.52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60920" y="2029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moderate-strong negative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578608"/>
            <a:ext cx="37490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670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P-value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2624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E12"/>
                </a:solidFill>
              </a:rPr>
              <a:t>≈ 0.00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60920" y="2688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highly significant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3236976"/>
            <a:ext cx="37490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R²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2826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E12"/>
                </a:solidFill>
              </a:rPr>
              <a:t>0.27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60920" y="33467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27% variance explained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3895344"/>
            <a:ext cx="37490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9867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Direction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3941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E12"/>
                </a:solidFill>
              </a:rPr>
              <a:t>↓ 41%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60920" y="40050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 10× subscriber increase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Beyond Last-Click  ·  Soheila Zamani  ·  SPICED Academy Berlin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H4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Paid Ads Convert 43% Better Than Organic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1325880"/>
            <a:ext cx="2194560" cy="237744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508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B2A4A"/>
                </a:solidFill>
              </a:rPr>
              <a:t>+43%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Conversion Lift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(Paid vs Organic)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2834640" cy="23774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Organic (PSA)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8D8D8"/>
                </a:solidFill>
              </a:rPr>
              <a:t>1.79%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conversion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Out of every 100 users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who saw organic content,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1.79 made a purchase.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325880"/>
            <a:ext cx="2834640" cy="23774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Paid 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874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CAE12"/>
                </a:solidFill>
              </a:rPr>
              <a:t>2.55%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594360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conversion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3108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Out of every 100 users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who saw a paid ad,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2.55 made a purchase.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77AA"/>
                </a:solidFill>
              </a:rPr>
              <a:t>Formula: (2.55 − 1.79) / 1.79 × 100 = 43%  ·  Sample: 588,101 users  ·  Significant at p &lt; 0.001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77AA"/>
                </a:solidFill>
              </a:rPr>
              <a:t>Beyond Last-Click  ·  Soheila Zamani  ·  SPICED Academy Berlin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H5 BONUS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Brazil, Nigeria &amp; Spain Lead on Engagement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697480" cy="64008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🇧🇷 Brazil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AE12"/>
                </a:solidFill>
              </a:rPr>
              <a:t>1.52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median views/subscriber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Channels: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Tier: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34015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Nano + Micro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8561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Niche: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7856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Fashion, Film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28016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280160"/>
            <a:ext cx="269748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🇳🇬 Nigeria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920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ECDC4"/>
                </a:solidFill>
              </a:rPr>
              <a:t>0.95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333756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median views/subscriber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0175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Channels: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4015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Tier: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60520" y="34015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Nano dominant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78561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Niche: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60520" y="37856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Film, Lifestyle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128016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280160"/>
            <a:ext cx="2697480" cy="64008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🇪🇸 Spain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0" y="1920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4B9FF"/>
                </a:solidFill>
              </a:rPr>
              <a:t>0.95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21792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median views/subscriber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30175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Channels: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15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4015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Tier: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34015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Nano + Micro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78561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Niche: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37856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Fashion, Fitness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Pattern: nano + micro tiers in Fashion/Film/Lifestyle niches consistently outperform  ·  min. 10 channels per country filter applied  ·  'Unknown' country excluded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H6 BONUS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Saturday 5–7am &amp; Monday–Tuesday Afternoons Are Your Best Ad Windows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411480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Conversion Rate by 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Monday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63040" y="1956816"/>
            <a:ext cx="2560320" cy="237744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E12"/>
                </a:solidFill>
              </a:rPr>
              <a:t>3.32%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Tuesday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63040" y="2350008"/>
            <a:ext cx="2344389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3149" y="23134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CDC4"/>
                </a:solidFill>
              </a:rPr>
              <a:t>3.04%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0662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Wednesday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463040" y="2743200"/>
            <a:ext cx="1958799" cy="237744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7559" y="27066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B9FF"/>
                </a:solidFill>
              </a:rPr>
              <a:t>2.54%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9981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Sunday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463040" y="3136392"/>
            <a:ext cx="1897105" cy="237744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5865" y="30998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B9FF"/>
                </a:solidFill>
              </a:rPr>
              <a:t>2.46%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4930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Friday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463040" y="3529584"/>
            <a:ext cx="1735157" cy="237744"/>
          </a:xfrm>
          <a:prstGeom prst="rect">
            <a:avLst/>
          </a:prstGeom>
          <a:solidFill>
            <a:srgbClr val="8B9D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3917" y="3493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DC3"/>
                </a:solidFill>
              </a:rPr>
              <a:t>2.25%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Thursday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63040" y="3922776"/>
            <a:ext cx="1665750" cy="237744"/>
          </a:xfrm>
          <a:prstGeom prst="rect">
            <a:avLst/>
          </a:prstGeom>
          <a:solidFill>
            <a:srgbClr val="8B9D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4510" y="3886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DC3"/>
                </a:solidFill>
              </a:rPr>
              <a:t>2.16%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27939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Saturday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463040" y="4315968"/>
            <a:ext cx="1642615" cy="237744"/>
          </a:xfrm>
          <a:prstGeom prst="rect">
            <a:avLst/>
          </a:prstGeom>
          <a:solidFill>
            <a:srgbClr val="8B9D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1375" y="4279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DC3"/>
                </a:solidFill>
              </a:rPr>
              <a:t>2.13%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3258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325880"/>
            <a:ext cx="4114800" cy="64008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Peak Conversion Hours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1920240"/>
            <a:ext cx="3749040" cy="438912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1993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🥇 Best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23560" y="19933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Sat 5:00 (5 AM)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06640" y="1993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5.68%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2450592"/>
            <a:ext cx="374904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52374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🥈 2nd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23560" y="25237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Sat 6:00 (6 AM)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25237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E12"/>
                </a:solidFill>
              </a:rPr>
              <a:t>5.16%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2980944"/>
            <a:ext cx="374904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0540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🥉 3rd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23560" y="30540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Tue 16:00 (4 PM)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06640" y="30540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E12"/>
                </a:solidFill>
              </a:rPr>
              <a:t>4.56%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3511296"/>
            <a:ext cx="374904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5844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4th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23560" y="3584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Mon 14:00 (2 PM)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06640" y="3584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E12"/>
                </a:solidFill>
              </a:rPr>
              <a:t>4.49%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46320" y="4041648"/>
            <a:ext cx="374904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41148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5th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23560" y="4114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Mon 15:00 (3 PM)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06640" y="4114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E12"/>
                </a:solidFill>
              </a:rPr>
              <a:t>4.29%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Insight: Saturday 5–7am peaks highest (5.68%). Monday–Tuesday 14:00–16:00 are the best weekday windows. Early morning weekend ads are a hidden opportunity.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 Data-Backed Actions for E-Commerce Brands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0" cy="1024128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Match Creator Tier to Campaign 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Nano creators (VPS 1.62) maximise reach and awareness. Macro creators (engagement rate 0.035) drive likes and comments. Use nano for top-of-funnel, macro for conversion campaigns.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640080" cy="1024128"/>
          </a:xfrm>
          <a:prstGeom prst="rect">
            <a:avLst/>
          </a:prstGeom>
          <a:solidFill>
            <a:srgbClr val="4ECD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803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26974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Schedule Paid Ads: Saturday 5–7am &amp; Mon–Tue 14:00–16:00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1089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Top conversion windows: Saturday 5am (5.68%) and Tuesday 16:00 (4.56%). Run weekend early-morning campaigns and weekday afternoon ads for maximum ROI.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794760"/>
            <a:ext cx="640080" cy="1024128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8862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Prioritise Fashion, Beauty &amp; Food Niches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29768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Fashion, Lifestyle, and Beauty consistently outperform on engagement across all tiers and geographies. They should anchor influencer selection criteria alongside tier and country data.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77AA"/>
                </a:solidFill>
              </a:rPr>
              <a:t>Beyond Last-Click  ·  Soheila Zamani  ·  SPICED Academy Berlin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NEW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4 Creator Types: From Dream Creators to Fading Out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← Less Active (older uploads)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480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Recently Active →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880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High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" y="4069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VPS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4023360" cy="1600200"/>
          </a:xfrm>
          <a:prstGeom prst="rect">
            <a:avLst/>
          </a:prstGeom>
          <a:solidFill>
            <a:srgbClr val="FCAE12">
              <a:alpha val="18000"/>
            </a:srgbClr>
          </a:solidFill>
          <a:ln w="12700">
            <a:solidFill>
              <a:srgbClr val="FCAE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43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Q1 — Dream Creators  ·  1,515 channels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060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 VPS + Recently Active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0060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→ Top tier: Nano · Top niche: Beauty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→ Median VPS: 1.45 · Median subs: 51K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170432"/>
            <a:ext cx="4023360" cy="1600200"/>
          </a:xfrm>
          <a:prstGeom prst="rect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243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Q2 — Evergreen Creators  ·  750 channels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 VPS + Less Active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→ Content still gets views months later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→ Top tier: Nano · Top niche: Beauty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023360" cy="1600200"/>
          </a:xfrm>
          <a:prstGeom prst="rect">
            <a:avLst/>
          </a:prstGeom>
          <a:solidFill>
            <a:srgbClr val="74B9FF">
              <a:alpha val="12000"/>
            </a:srgbClr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Q3 — Active but Struggling  ·  1,928 channels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3401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Low VPS + Recently Active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36758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→ Posting often but not breaking through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→ Median subs: 452K · VPS: 0.25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017520"/>
            <a:ext cx="4023360" cy="1600200"/>
          </a:xfrm>
          <a:prstGeom prst="rect">
            <a:avLst/>
          </a:prstGeom>
          <a:solidFill>
            <a:srgbClr val="E2E8F0">
              <a:alpha val="4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</a:rPr>
              <a:t>Q4 — Fading Out  ·  334 channels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Low VPS + Less Active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6758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→ Neither performing nor posting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→ Remove from influencer shortlists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Beyond Last-Click  ·  Soheila Zamani  ·  SPICED Academy Berlin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CAE12"/>
                </a:solidFill>
              </a:rPr>
              <a:t>NEW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Data-Defined Ideal E-Commerce Influencer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Definition: top 25% VPS (≥1.655) + uploaded within last 30 days  ·  668 channels found (14.8% of dataset)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1920240" cy="21945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1920240" cy="64008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Tier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AE12"/>
                </a:solidFill>
              </a:rPr>
              <a:t>Nano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50% of ideal creators are nano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691640"/>
            <a:ext cx="1920240" cy="21945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691640"/>
            <a:ext cx="192024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6888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Niche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</a:rPr>
              <a:t>Beauty / Fashion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139 + 114 ideal channels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691640"/>
            <a:ext cx="1920240" cy="21945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691640"/>
            <a:ext cx="1920240" cy="64008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Median VPS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B9FF"/>
                </a:solidFill>
              </a:rPr>
              <a:t>3.21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5.1× above dataset average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1691640"/>
            <a:ext cx="1920240" cy="21945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691640"/>
            <a:ext cx="1920240" cy="64008"/>
          </a:xfrm>
          <a:prstGeom prst="rect">
            <a:avLst/>
          </a:prstGeom>
          <a:solidFill>
            <a:srgbClr val="A29B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67512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Posts every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7512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29BFE"/>
                </a:solidFill>
              </a:rPr>
              <a:t>2 days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Median days since upload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330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668 channels (14.8%) meet the ideal profile: nano creator in Beauty or Fashion, posting every 2 days, with a median VPS of 3.21 — that is 5.1× the dataset average of 0.63.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77AA"/>
                </a:solidFill>
              </a:rPr>
              <a:t>Beyond Last-Click  ·  Soheila Zamani  ·  SPICED Academy Berlin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CAE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ECDC4"/>
                </a:solidFill>
              </a:rPr>
              <a:t>FROM MARKETING TO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This Analysis Matters to 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 spent 4 years at Healy World running A/B tests, managing campaigns, and building performance reports. I kept asking the same question: why does this actually work?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This project is my answer. It proves that data analytics and marketing strategy are not separate — they are the same conversation, spoken in different languages. I now speak both.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920240"/>
            <a:ext cx="11430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116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AE12"/>
                </a:solidFill>
              </a:rPr>
              <a:t>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Hypotheses tested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0" y="1920240"/>
            <a:ext cx="11430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20116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AE12"/>
                </a:solidFill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Confirmed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92240" y="3108960"/>
            <a:ext cx="11430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2004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AE12"/>
                </a:solidFill>
              </a:rPr>
              <a:t>588K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 points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0" y="3108960"/>
            <a:ext cx="11430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2004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AE12"/>
                </a:solidFill>
              </a:rPr>
              <a:t>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0" y="37490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Clear recommendation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Soheila Zamani  ·  sohaaa.zamani@gmail.com  ·  SPICED Academy Berlin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Last-Click</dc:title>
  <dc:subject>PptxGenJS Presentation</dc:subject>
  <dc:creator>Soheila Zamani</dc:creator>
  <cp:lastModifiedBy>Soheila Zamani</cp:lastModifiedBy>
  <cp:revision>1</cp:revision>
  <dcterms:created xsi:type="dcterms:W3CDTF">2026-04-25T13:03:21Z</dcterms:created>
  <dcterms:modified xsi:type="dcterms:W3CDTF">2026-04-25T13:03:21Z</dcterms:modified>
</cp:coreProperties>
</file>