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256032"/>
            <a:ext cx="1463040" cy="310896"/>
          </a:xfrm>
          <a:prstGeom prst="rect">
            <a:avLst>
              <a:gd name="adj" fmla="val 11765"/>
            </a:avLst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4688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SPICED ACADEMY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011680" y="256032"/>
            <a:ext cx="6400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KICK-OFF  ·  30 MARCH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82296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Does Influencer Size Matter?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457200" y="18288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B0AE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 Data-Driven ROI Analysis of Digital Marketing Campaign Performance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B0AED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for Fashion, Beauty &amp; Wellness Brands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2788920"/>
            <a:ext cx="2286000" cy="36576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Soheila Zamani</a:t>
            </a:r>
            <a:pPr indent="0" marL="0">
              <a:buNone/>
            </a:pPr>
            <a:r>
              <a:rPr lang="en-US" sz="1100" dirty="0">
                <a:solidFill>
                  <a:srgbClr val="989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Data Analytics Bootcamp  ·  SPICED Academy Berlin  ·  Graduating April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3474720"/>
            <a:ext cx="3474720" cy="502920"/>
          </a:xfrm>
          <a:prstGeom prst="rect">
            <a:avLst/>
          </a:prstGeom>
          <a:solidFill>
            <a:srgbClr val="252550"/>
          </a:solidFill>
          <a:ln w="6350">
            <a:solidFill>
              <a:srgbClr val="7F77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34747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years in Performance Marketing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3474720"/>
            <a:ext cx="3474720" cy="502920"/>
          </a:xfrm>
          <a:prstGeom prst="rect">
            <a:avLst/>
          </a:prstGeom>
          <a:solidFill>
            <a:srgbClr val="252550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114800" y="3474720"/>
            <a:ext cx="3474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·  SQL  ·  Tableau  ·  Statistics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11130"/>
          </a:solidFill>
          <a:ln w="12700">
            <a:solidFill>
              <a:srgbClr val="11113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Soheila Zamani  ·  SPICED Academy Berlin  ·  Capstone Kick-Off  ·  30 March 2026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329184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My Background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02336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E0DF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4023360" cy="34747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EXPERIENCE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45720" cy="50292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178308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Healy World GmbH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198424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Marketing Specialist  ·  4 years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marketing, A/B testing,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automation, D2C campaigns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2651760"/>
            <a:ext cx="45720" cy="50292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65176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Irancharm Iran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58368" y="285292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 Manager  ·  4 years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marketing strategy, team leadership,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campaigns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02920" y="3520440"/>
            <a:ext cx="45720" cy="502920"/>
          </a:xfrm>
          <a:prstGeom prst="rect">
            <a:avLst/>
          </a:prstGeom>
          <a:solidFill>
            <a:srgbClr val="7F77DD"/>
          </a:solidFill>
          <a:ln w="12700">
            <a:solidFill>
              <a:srgbClr val="7F77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520440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" y="3721608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Bachelor's in Business Management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German · English · Persian (all fluent)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663440" y="1325880"/>
            <a:ext cx="4023360" cy="3154680"/>
          </a:xfrm>
          <a:prstGeom prst="rect">
            <a:avLst/>
          </a:prstGeom>
          <a:solidFill>
            <a:srgbClr val="FFFFFF"/>
          </a:solidFill>
          <a:ln w="6350">
            <a:solidFill>
              <a:srgbClr val="C0E8D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325880"/>
            <a:ext cx="4023360" cy="34747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132588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— NOW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800600" y="1819656"/>
            <a:ext cx="45720" cy="274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56048" y="178308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053328" y="178308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Matplotlib, Seaborn, scipy.stats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2258568"/>
            <a:ext cx="45720" cy="274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2221992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 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053328" y="22219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PostgreSQL, SQLite, complex JOIN queries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800600" y="2697480"/>
            <a:ext cx="45720" cy="274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56048" y="2660904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 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053328" y="2660904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Dashboards, LOD, table calculations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3136392"/>
            <a:ext cx="45720" cy="274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56048" y="309981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 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053328" y="3099816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testing, hypothesis testing, distributions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00600" y="3575304"/>
            <a:ext cx="45720" cy="274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56048" y="353872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053328" y="3538728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project repository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00600" y="4014216"/>
            <a:ext cx="45720" cy="2743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56048" y="3977640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850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Roles  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6053328" y="3977640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Data Analyst · Growth Analyst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Marketing Analyst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48737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Soheila Zamani  ·  SPICED Academy Berlin  ·  Capstone Kick-Off  ·  30 March 2026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321040" y="48737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TOPIC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6217920" y="182880"/>
            <a:ext cx="2560320" cy="548640"/>
          </a:xfrm>
          <a:prstGeom prst="rect">
            <a:avLst/>
          </a:prstGeom>
          <a:solidFill>
            <a:srgbClr val="252550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0" y="182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SPICED's official recommended list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Does Influencer Size Matter?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8412480" cy="914400"/>
          </a:xfrm>
          <a:prstGeom prst="rect">
            <a:avLst/>
          </a:prstGeom>
          <a:solidFill>
            <a:srgbClr val="1A1A3E"/>
          </a:solidFill>
          <a:ln w="6350">
            <a:solidFill>
              <a:srgbClr val="3C348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508760"/>
            <a:ext cx="73152" cy="91440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5361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48640" y="1828800"/>
            <a:ext cx="7955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actually drives digital marketing ROI — and do micro-influencers outperform macro-influencers across TikTok, Instagram and YouTube for fashion, beauty and wellness brands?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2606040"/>
            <a:ext cx="2743200" cy="822960"/>
          </a:xfrm>
          <a:prstGeom prst="rect">
            <a:avLst/>
          </a:prstGeom>
          <a:solidFill>
            <a:srgbClr val="1E1E40"/>
          </a:solidFill>
          <a:ln w="6350">
            <a:solidFill>
              <a:srgbClr val="7F77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6334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7F7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spend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65760" y="28895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$32B in 2026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91840" y="2606040"/>
            <a:ext cx="2743200" cy="822960"/>
          </a:xfrm>
          <a:prstGeom prst="rect">
            <a:avLst/>
          </a:prstGeom>
          <a:solidFill>
            <a:srgbClr val="1E1E40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91840" y="26334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investing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291840" y="28895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 struggle to measure ROI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2606040"/>
            <a:ext cx="2743200" cy="822960"/>
          </a:xfrm>
          <a:prstGeom prst="rect">
            <a:avLst/>
          </a:prstGeom>
          <a:solidFill>
            <a:srgbClr val="1E1E40"/>
          </a:solidFill>
          <a:ln w="6350">
            <a:solidFill>
              <a:srgbClr val="BA75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17920" y="263347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market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17920" y="288950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Sunday Natural, Flaconi, Zalando hiring NOW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356616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898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Industries: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20240" y="3538728"/>
            <a:ext cx="1572768" cy="329184"/>
          </a:xfrm>
          <a:prstGeom prst="rect">
            <a:avLst/>
          </a:prstGeom>
          <a:solidFill>
            <a:srgbClr val="252550"/>
          </a:solidFill>
          <a:ln w="6350">
            <a:solidFill>
              <a:srgbClr val="7F77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920240" y="353872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&amp; Beauty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611880" y="3538728"/>
            <a:ext cx="1572768" cy="329184"/>
          </a:xfrm>
          <a:prstGeom prst="rect">
            <a:avLst/>
          </a:prstGeom>
          <a:solidFill>
            <a:srgbClr val="252550"/>
          </a:solidFill>
          <a:ln w="6350">
            <a:solidFill>
              <a:srgbClr val="7F77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11880" y="353872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Wellness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303520" y="3538728"/>
            <a:ext cx="1572768" cy="329184"/>
          </a:xfrm>
          <a:prstGeom prst="rect">
            <a:avLst/>
          </a:prstGeom>
          <a:solidFill>
            <a:srgbClr val="252550"/>
          </a:solidFill>
          <a:ln w="6350">
            <a:solidFill>
              <a:srgbClr val="7F77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303520" y="353872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995160" y="3538728"/>
            <a:ext cx="1572768" cy="329184"/>
          </a:xfrm>
          <a:prstGeom prst="rect">
            <a:avLst/>
          </a:prstGeom>
          <a:solidFill>
            <a:srgbClr val="252550"/>
          </a:solidFill>
          <a:ln w="6350">
            <a:solidFill>
              <a:srgbClr val="7F77DD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995160" y="353872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&amp; Streaming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737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Soheila Zamani  ·  SPICED Academy Berlin  ·  Capstone Kick-Off  ·  30 March 2026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8321040" y="48737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329184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 Research Hypotheses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3C348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4114800" cy="329184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 ·  Influencer Tier vs ROI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6916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Factor: follower count / influencer size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57200" y="189280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Micro-influencers (10K–100K) generate higher engagement and ROI per € than macro-influencers (500K+)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57200" y="235000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Groupby analysis in Python  ·  Bar chart comparison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57200" y="2606040"/>
            <a:ext cx="3931920" cy="274320"/>
          </a:xfrm>
          <a:prstGeom prst="rect">
            <a:avLst/>
          </a:prstGeom>
          <a:solidFill>
            <a:srgbClr val="EEEDFE"/>
          </a:solidFill>
          <a:ln w="6350">
            <a:solidFill>
              <a:srgbClr val="3C348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57200" y="2606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717% vs 7.8% engagement — already confirmed in data!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315468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185FA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154680"/>
            <a:ext cx="4114800" cy="32918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1546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 ·  Platform Comparison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5204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Factor: TikTok vs Instagram vs YouTube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57200" y="372160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delivers highest engagement · Instagram delivers highest conversion · platform choice depends on campaign objective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17880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SQL queries  ·  Tableau heatmap  ·  Cross-platform groupby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57200" y="4434840"/>
            <a:ext cx="3931920" cy="274320"/>
          </a:xfrm>
          <a:prstGeom prst="rect">
            <a:avLst/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4434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platforms · real scraped data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754880" y="132588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325880"/>
            <a:ext cx="4114800" cy="32918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3258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 ·  Content Category Performance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16916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Factor: fashion &amp; beauty vs other categories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846320" y="189280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&amp; beauty content generates 30–50% higher engagement than other content categories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235000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Filter by category  ·  KPI comparison  ·  Tableau chart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846320" y="2606040"/>
            <a:ext cx="3931920" cy="274320"/>
          </a:xfrm>
          <a:prstGeom prst="rect">
            <a:avLst/>
          </a:prstGeom>
          <a:solidFill>
            <a:srgbClr val="EAF3DE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26060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= 2nd highest engagement in real data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754880" y="3154680"/>
            <a:ext cx="4114800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85A3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3154680"/>
            <a:ext cx="4114800" cy="329184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154680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H4  ·  A/B Test: Ads vs No Ads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352044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i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Factor: campaign type — statistical significance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46320" y="372160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Influencer/ad campaigns statistically significantly outperform no-campaign baseline (p &lt; 0.05)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46320" y="417880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scipy.stats t-test  ·  p-value  ·  confidence intervals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846320" y="4434840"/>
            <a:ext cx="3931920" cy="274320"/>
          </a:xfrm>
          <a:prstGeom prst="rect">
            <a:avLst/>
          </a:prstGeom>
          <a:solidFill>
            <a:srgbClr val="FAECE7"/>
          </a:solidFill>
          <a:ln w="6350">
            <a:solidFill>
              <a:srgbClr val="D85A3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46320" y="4434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proven: p ≈ 0, ads convert 42% better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8737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Soheila Zamani  ·  SPICED Academy Berlin  ·  Capstone Kick-Off  ·  30 March 2026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8321040" y="48737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32918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My Datasets — All Checked &amp; Validated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640080" cy="10789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640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0" y="1399032"/>
            <a:ext cx="1371600" cy="256032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0" y="139903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— REAL DATA</a:t>
            </a:r>
            <a:endParaRPr lang="en-US" sz="650" dirty="0"/>
          </a:p>
        </p:txBody>
      </p:sp>
      <p:sp>
        <p:nvSpPr>
          <p:cNvPr id="10" name="Text 8"/>
          <p:cNvSpPr/>
          <p:nvPr/>
        </p:nvSpPr>
        <p:spPr>
          <a:xfrm>
            <a:off x="1143000" y="1371600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 Influencers 2022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43000" y="1645920"/>
            <a:ext cx="6492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Jas  ·  15 CSV files  ·  Usability 10.0  ·  249 votes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143000" y="181965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from real Instagram, TikTok &amp; YouTube profiles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names: Cristiano Ronaldo, MrBeast, Kylie Jenner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Follower counts · Engagement metrics · 4 time snapshots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H1 (micro vs macro) · H2 (platform) · H3 (category)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989320" y="1819656"/>
            <a:ext cx="2423160" cy="457200"/>
          </a:xfrm>
          <a:prstGeom prst="rect">
            <a:avLst/>
          </a:prstGeom>
          <a:solidFill>
            <a:srgbClr val="EAF3DE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89320" y="181965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found: Micro = 717% vs Mega = 7.8% engagement on TikTok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65760" y="2514600"/>
            <a:ext cx="8412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185FA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514600"/>
            <a:ext cx="640080" cy="107899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514600"/>
            <a:ext cx="640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7315200" y="2587752"/>
            <a:ext cx="1371600" cy="256032"/>
          </a:xfrm>
          <a:prstGeom prst="rect">
            <a:avLst/>
          </a:prstGeom>
          <a:solidFill>
            <a:srgbClr val="185FA5"/>
          </a:solidFill>
          <a:ln w="6350">
            <a:solidFill>
              <a:srgbClr val="185FA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315200" y="258775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EXPERIMENTAL DATA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143000" y="2560320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A/B Testing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143000" y="2834640"/>
            <a:ext cx="6492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FavioVázquez  ·  588,101 rows  ·  Usability 9.4  ·  Classic trusted dataset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143000" y="300837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A/B test: ad group (564k users) vs PSA control (23k users)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funnel data · Day and hour of peak performance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ran t-test: p-value ≈ 0, t-stat = 7.37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H4 (statistical A/B test)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89320" y="3008376"/>
            <a:ext cx="2423160" cy="457200"/>
          </a:xfrm>
          <a:prstGeom prst="rect">
            <a:avLst/>
          </a:prstGeom>
          <a:solidFill>
            <a:srgbClr val="E6F1FB"/>
          </a:solidFill>
          <a:ln w="6350">
            <a:solidFill>
              <a:srgbClr val="185FA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89320" y="300837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proven: Ads convert 42% better than no ads (p ≈ 0)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5760" y="3703320"/>
            <a:ext cx="8412480" cy="1078992"/>
          </a:xfrm>
          <a:prstGeom prst="rect">
            <a:avLst/>
          </a:prstGeom>
          <a:solidFill>
            <a:srgbClr val="FFFFFF"/>
          </a:solidFill>
          <a:ln w="6350">
            <a:solidFill>
              <a:srgbClr val="3C348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703320"/>
            <a:ext cx="640080" cy="107899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703320"/>
            <a:ext cx="640080" cy="10789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7315200" y="3776472"/>
            <a:ext cx="1371600" cy="256032"/>
          </a:xfrm>
          <a:prstGeom prst="rect">
            <a:avLst/>
          </a:prstGeom>
          <a:solidFill>
            <a:srgbClr val="3C3489"/>
          </a:solidFill>
          <a:ln w="6350">
            <a:solidFill>
              <a:srgbClr val="3C348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315200" y="37764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3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SKILLS SHOWCASE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1143000" y="3749040"/>
            <a:ext cx="6035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Campaign Database (SQLite)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143000" y="4023360"/>
            <a:ext cx="6492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linked tables  ·  400,000 events  ·  200 ads  ·  50 campaigns  ·  10,000 users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143000" y="4197096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properly linked relational tables (users, campaigns, ads, events)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funnel: Impression → Click → Like → Comment → Purchase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budget data: €7,918–€98,904 per campaign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for JOIN queries — demonstrates mandatory SQL deliverable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989320" y="4197096"/>
            <a:ext cx="2423160" cy="457200"/>
          </a:xfrm>
          <a:prstGeom prst="rect">
            <a:avLst/>
          </a:prstGeom>
          <a:solidFill>
            <a:srgbClr val="EEEDFE"/>
          </a:solidFill>
          <a:ln w="6350">
            <a:solidFill>
              <a:srgbClr val="3C348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989320" y="4197096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for: SQL JOIN queries + ad format comparison (Video vs Stories vs Image)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48737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Soheila Zamani  ·  SPICED Academy Berlin  ·  Capstone Kick-Off  ·  30 March 2026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321040" y="48737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32918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Academic Papers — Selected from 40+ Found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298448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98448"/>
            <a:ext cx="822960" cy="62179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98448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180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65760" y="1700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E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25880" y="1335024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Revenue generation through influencer marketing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25880" y="157276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Beichert, Bayerl, Goldenberg et al.  ·  Journal of Marketing, 2024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46520" y="1353312"/>
            <a:ext cx="2240280" cy="502920"/>
          </a:xfrm>
          <a:prstGeom prst="rect">
            <a:avLst/>
          </a:prstGeom>
          <a:solidFill>
            <a:srgbClr val="FFFAEE"/>
          </a:solidFill>
          <a:ln w="6350">
            <a:solidFill>
              <a:srgbClr val="BA75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46520" y="1353312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hypothesis backing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325880" y="1755648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Nano-influencers generate significantly higher ROI than macro-influencers — proven with real revenue data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365760" y="2011680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011680"/>
            <a:ext cx="822960" cy="62179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11680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734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65760" y="2414016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E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1325880" y="2048256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Influencer marketing effectiveness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325880" y="228600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Leung, Gu, Li, Zhang  ·  Journal of Marketing, 2022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446520" y="2066544"/>
            <a:ext cx="2240280" cy="502920"/>
          </a:xfrm>
          <a:prstGeom prst="rect">
            <a:avLst/>
          </a:prstGeom>
          <a:solidFill>
            <a:srgbClr val="FFFAEE"/>
          </a:solidFill>
          <a:ln w="6350">
            <a:solidFill>
              <a:srgbClr val="BA75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46520" y="2066544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Theoretical foundation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325880" y="2468880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influencer selection beats follower count every time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2724912"/>
            <a:ext cx="822960" cy="62179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724912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365760" y="3127248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E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650" dirty="0"/>
          </a:p>
        </p:txBody>
      </p:sp>
      <p:sp>
        <p:nvSpPr>
          <p:cNvPr id="27" name="Text 25"/>
          <p:cNvSpPr/>
          <p:nvPr/>
        </p:nvSpPr>
        <p:spPr>
          <a:xfrm>
            <a:off x="1325880" y="2761488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KPI patterns across platforms — Instagram, TikTok, YouTube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25880" y="2999232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Pourazad, Stocchi, Narsey  ·  Journal of Advertising Research, 2023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6446520" y="2779776"/>
            <a:ext cx="2240280" cy="502920"/>
          </a:xfrm>
          <a:prstGeom prst="rect">
            <a:avLst/>
          </a:prstGeom>
          <a:solidFill>
            <a:srgbClr val="FFFAEE"/>
          </a:solidFill>
          <a:ln w="6350">
            <a:solidFill>
              <a:srgbClr val="BA75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446520" y="2779776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comparison (H2)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325880" y="3182112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 and Instagram have the highest engagement — but platform patterns differ by content type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65760" y="3438144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65760" y="3438144"/>
            <a:ext cx="822960" cy="62179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438144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944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365760" y="3840480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E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1325880" y="3474720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Influencer attributes and purchase intentions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325880" y="3712464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Masuda, Han, Lee  ·  Technological Forecasting, 2022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446520" y="3493008"/>
            <a:ext cx="2240280" cy="502920"/>
          </a:xfrm>
          <a:prstGeom prst="rect">
            <a:avLst/>
          </a:prstGeom>
          <a:solidFill>
            <a:srgbClr val="FFFAEE"/>
          </a:solidFill>
          <a:ln w="6350">
            <a:solidFill>
              <a:srgbClr val="BA75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46520" y="3493008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micro wins (H1)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325880" y="389534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Parasocial relationships (PSR) — feeling of knowing the influencer personally — drives purchase intent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365760" y="4151376"/>
            <a:ext cx="8412480" cy="62179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F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65760" y="4151376"/>
            <a:ext cx="822960" cy="62179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151376"/>
            <a:ext cx="822960" cy="4114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233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365760" y="4553712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dirty="0">
                <a:solidFill>
                  <a:srgbClr val="FFE8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650" dirty="0"/>
          </a:p>
        </p:txBody>
      </p:sp>
      <p:sp>
        <p:nvSpPr>
          <p:cNvPr id="45" name="Text 43"/>
          <p:cNvSpPr/>
          <p:nvPr/>
        </p:nvSpPr>
        <p:spPr>
          <a:xfrm>
            <a:off x="1325880" y="4187952"/>
            <a:ext cx="5029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Influencer marketing effectiveness: A meta-analytic review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1325880" y="4425696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Pan, Blut, Ghiassaleh, Lee  ·  JAMS, 2025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6446520" y="4206240"/>
            <a:ext cx="2240280" cy="502920"/>
          </a:xfrm>
          <a:prstGeom prst="rect">
            <a:avLst/>
          </a:prstGeom>
          <a:solidFill>
            <a:srgbClr val="FFFAEE"/>
          </a:solidFill>
          <a:ln w="6350">
            <a:solidFill>
              <a:srgbClr val="BA75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446520" y="4206240"/>
            <a:ext cx="2240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field overview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325880" y="4608576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Meta-analysis of ALL influencer research — platform type and product category impact effectiveness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74320" y="48737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Soheila Zamani  ·  SPICED Academy Berlin  ·  Capstone Kick-Off  ·  30 March 2026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321040" y="48737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56032"/>
            <a:ext cx="54864" cy="32918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TOOLS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Technical Approach &amp; 4-Week Plan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15727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185FA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325880"/>
            <a:ext cx="1572768" cy="292608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2588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Seaborn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· scipy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048256" y="1325880"/>
            <a:ext cx="15727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3C348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48256" y="1325880"/>
            <a:ext cx="1572768" cy="292608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48256" y="132588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048256" y="164592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queries · EDA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730752" y="1325880"/>
            <a:ext cx="15727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D85A3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30752" y="1325880"/>
            <a:ext cx="1572768" cy="292608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132588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730752" y="164592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LOD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calculations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413248" y="1325880"/>
            <a:ext cx="15727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13248" y="1325880"/>
            <a:ext cx="157276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13248" y="132588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13248" y="164592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T-test · CI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095744" y="1325880"/>
            <a:ext cx="1572768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BA75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95744" y="1325880"/>
            <a:ext cx="1572768" cy="29260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95744" y="1325880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095744" y="1645920"/>
            <a:ext cx="15727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code + slides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2395728"/>
            <a:ext cx="19659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85A3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2395728"/>
            <a:ext cx="1965960" cy="329184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39572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65760" y="2743200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Mar – 6 Apr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2999232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retrieval · SQL setup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· GitHub repo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468880" y="2395728"/>
            <a:ext cx="19659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BA75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468880" y="2395728"/>
            <a:ext cx="1965960" cy="32918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68880" y="239572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468880" y="2743200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– 13 Apr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560320" y="2999232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· Python analysis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· A/B test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0" y="2395728"/>
            <a:ext cx="19659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185FA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572000" y="2395728"/>
            <a:ext cx="1965960" cy="329184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239572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0" y="2743200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– 17 Apr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4663440" y="2999232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dashboard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concept · Visuals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Easter 18–21 Apr!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675120" y="2395728"/>
            <a:ext cx="196596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675120" y="2395728"/>
            <a:ext cx="1965960" cy="32918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2395728"/>
            <a:ext cx="1965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675120" y="2743200"/>
            <a:ext cx="19659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– 28 Apr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766560" y="2999232"/>
            <a:ext cx="1783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freeze · Slides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practice x10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Graduation 28 Apr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4224528"/>
            <a:ext cx="8412480" cy="438912"/>
          </a:xfrm>
          <a:prstGeom prst="rect">
            <a:avLst/>
          </a:prstGeom>
          <a:solidFill>
            <a:srgbClr val="EEEDFE"/>
          </a:solidFill>
          <a:ln w="6350">
            <a:solidFill>
              <a:srgbClr val="3C348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457200" y="4224528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deliverables: Business question · Python + SQL analysis · GitHub repository · SQL database · 10–15 min presentation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873752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Soheila Zamani  ·  SPICED Academy Berlin  ·  Capstone Kick-Off  ·  30 March 2026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321040" y="4873752"/>
            <a:ext cx="548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FOR TODAY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 Things I Need Your Guidance 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8412480" cy="621792"/>
          </a:xfrm>
          <a:prstGeom prst="rect">
            <a:avLst/>
          </a:prstGeom>
          <a:solidFill>
            <a:srgbClr val="1A1A3E"/>
          </a:solidFill>
          <a:ln w="6350">
            <a:solidFill>
              <a:srgbClr val="3C3489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61872"/>
            <a:ext cx="512064" cy="621792"/>
          </a:xfrm>
          <a:prstGeom prst="rect">
            <a:avLst/>
          </a:prstGeom>
          <a:solidFill>
            <a:srgbClr val="3C3489"/>
          </a:solidFill>
          <a:ln w="12700">
            <a:solidFill>
              <a:srgbClr val="3C34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61872"/>
            <a:ext cx="5120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316736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C34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&amp; Hypotheses Confirmation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57276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my research question and 4 hypotheses structure work? Any adjustments needed?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65760" y="1975104"/>
            <a:ext cx="8412480" cy="621792"/>
          </a:xfrm>
          <a:prstGeom prst="rect">
            <a:avLst/>
          </a:prstGeom>
          <a:solidFill>
            <a:srgbClr val="1A1A3E"/>
          </a:solidFill>
          <a:ln w="6350">
            <a:solidFill>
              <a:srgbClr val="1D9E7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1975104"/>
            <a:ext cx="512064" cy="6217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975104"/>
            <a:ext cx="5120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05840" y="2029968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Validation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05840" y="228600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checked all datasets. Dropped Rishi (synthetic, dates in 2432). Keeping: Social Media Influencers 2022 (real) + A/B Testing (real) + SQLite (SQL showcase). Is this combination strong enough?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688336"/>
            <a:ext cx="8412480" cy="621792"/>
          </a:xfrm>
          <a:prstGeom prst="rect">
            <a:avLst/>
          </a:prstGeom>
          <a:solidFill>
            <a:srgbClr val="1A1A3E"/>
          </a:solidFill>
          <a:ln w="6350">
            <a:solidFill>
              <a:srgbClr val="185FA5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688336"/>
            <a:ext cx="512064" cy="621792"/>
          </a:xfrm>
          <a:prstGeom prst="rect">
            <a:avLst/>
          </a:prstGeom>
          <a:solidFill>
            <a:srgbClr val="185FA5"/>
          </a:solidFill>
          <a:ln w="12700">
            <a:solidFill>
              <a:srgbClr val="185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88336"/>
            <a:ext cx="5120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005840" y="2743200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85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 Access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05840" y="299923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get access to the PostgreSQL database SPICED provides? Attended the PostgreSQL lecture — ready to set it up.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65760" y="3401568"/>
            <a:ext cx="8412480" cy="621792"/>
          </a:xfrm>
          <a:prstGeom prst="rect">
            <a:avLst/>
          </a:prstGeom>
          <a:solidFill>
            <a:srgbClr val="1A1A3E"/>
          </a:solidFill>
          <a:ln w="6350">
            <a:solidFill>
              <a:srgbClr val="BA7517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01568"/>
            <a:ext cx="512064" cy="62179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01568"/>
            <a:ext cx="5120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5840" y="3456432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5840" y="371246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I set it up today? What is the expected folder structure and naming convention?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4114800"/>
            <a:ext cx="8412480" cy="621792"/>
          </a:xfrm>
          <a:prstGeom prst="rect">
            <a:avLst/>
          </a:prstGeom>
          <a:solidFill>
            <a:srgbClr val="1A1A3E"/>
          </a:solidFill>
          <a:ln w="6350">
            <a:solidFill>
              <a:srgbClr val="D85A30"/>
            </a:solidFill>
            <a:prstDash val="solid"/>
          </a:ln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4114800"/>
            <a:ext cx="512064" cy="62179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114800"/>
            <a:ext cx="51206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1005840" y="4169664"/>
            <a:ext cx="7589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85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SPICED School Letter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05840" y="442569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I get a letter describing SPICED and the capstone framework for company outreach? I want to offer free analysis to brands for real data.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11130"/>
          </a:solidFill>
          <a:ln w="12700">
            <a:solidFill>
              <a:srgbClr val="1111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4873752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66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Soheila Zamani  ·  SPICED Academy Berlin  ·  Capstone Kick-Off  ·  30 March 2026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Kick-Off — Soheila Zamani</dc:title>
  <dc:subject>PptxGenJS Presentation</dc:subject>
  <dc:creator>PptxGenJS</dc:creator>
  <cp:lastModifiedBy>PptxGenJS</cp:lastModifiedBy>
  <cp:revision>1</cp:revision>
  <dcterms:created xsi:type="dcterms:W3CDTF">2026-03-29T19:42:00Z</dcterms:created>
  <dcterms:modified xsi:type="dcterms:W3CDTF">2026-03-29T19:42:00Z</dcterms:modified>
</cp:coreProperties>
</file>